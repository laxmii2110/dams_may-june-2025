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2" r:id="rId19"/>
    <p:sldId id="275" r:id="rId20"/>
    <p:sldId id="276" r:id="rId21"/>
    <p:sldId id="27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0" d="100"/>
          <a:sy n="60" d="100"/>
        </p:scale>
        <p:origin x="123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6/27/2025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6/27/2025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FD9E8-5BCB-213D-E955-E0F67721D54E}"/>
              </a:ext>
            </a:extLst>
          </p:cNvPr>
          <p:cNvSpPr>
            <a:spLocks noGrp="1"/>
          </p:cNvSpPr>
          <p:nvPr>
            <p:ph type="ctrTitle"/>
          </p:nvPr>
        </p:nvSpPr>
        <p:spPr>
          <a:xfrm>
            <a:off x="209725" y="234893"/>
            <a:ext cx="10950400" cy="2237376"/>
          </a:xfrm>
        </p:spPr>
        <p:txBody>
          <a:bodyPr/>
          <a:lstStyle/>
          <a:p>
            <a:r>
              <a:rPr lang="en-US" dirty="0"/>
              <a:t>Poject3:- INTEGRATE GRAFANA WITH AMAZON GRAFANA </a:t>
            </a:r>
          </a:p>
        </p:txBody>
      </p:sp>
      <p:sp>
        <p:nvSpPr>
          <p:cNvPr id="3" name="Subtitle 2">
            <a:extLst>
              <a:ext uri="{FF2B5EF4-FFF2-40B4-BE49-F238E27FC236}">
                <a16:creationId xmlns:a16="http://schemas.microsoft.com/office/drawing/2014/main" id="{4367E3A7-1ECE-5E44-3B96-362A7E7A5F23}"/>
              </a:ext>
            </a:extLst>
          </p:cNvPr>
          <p:cNvSpPr>
            <a:spLocks noGrp="1"/>
          </p:cNvSpPr>
          <p:nvPr>
            <p:ph type="subTitle" idx="1"/>
          </p:nvPr>
        </p:nvSpPr>
        <p:spPr>
          <a:xfrm>
            <a:off x="427839" y="2472270"/>
            <a:ext cx="10732286" cy="3318930"/>
          </a:xfrm>
        </p:spPr>
        <p:txBody>
          <a:bodyPr/>
          <a:lstStyle/>
          <a:p>
            <a:pPr algn="ctr"/>
            <a:r>
              <a:rPr lang="en-US" sz="2000" b="1" dirty="0"/>
              <a:t>INTRODUCTION </a:t>
            </a:r>
          </a:p>
          <a:p>
            <a:r>
              <a:rPr lang="en-US" b="1" dirty="0"/>
              <a:t>Grafana</a:t>
            </a:r>
            <a:r>
              <a:rPr lang="en-US" dirty="0"/>
              <a:t> is an open-source analytics and visualization platform. It is mainly used for monitoring and observability of systems like servers, databases, and applications.</a:t>
            </a:r>
          </a:p>
          <a:p>
            <a:endParaRPr lang="en-US" dirty="0"/>
          </a:p>
          <a:p>
            <a:endParaRPr lang="en-US" dirty="0"/>
          </a:p>
        </p:txBody>
      </p:sp>
    </p:spTree>
    <p:extLst>
      <p:ext uri="{BB962C8B-B14F-4D97-AF65-F5344CB8AC3E}">
        <p14:creationId xmlns:p14="http://schemas.microsoft.com/office/powerpoint/2010/main" val="3246281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BF4FA-B510-5ADB-DEC1-07270705C39D}"/>
              </a:ext>
            </a:extLst>
          </p:cNvPr>
          <p:cNvSpPr>
            <a:spLocks noGrp="1"/>
          </p:cNvSpPr>
          <p:nvPr>
            <p:ph type="title"/>
          </p:nvPr>
        </p:nvSpPr>
        <p:spPr/>
        <p:txBody>
          <a:bodyPr/>
          <a:lstStyle/>
          <a:p>
            <a:r>
              <a:rPr lang="en-US" dirty="0"/>
              <a:t>KEY FEATUREs OF GRAFANA </a:t>
            </a:r>
          </a:p>
        </p:txBody>
      </p:sp>
      <p:sp>
        <p:nvSpPr>
          <p:cNvPr id="3" name="Content Placeholder 2">
            <a:extLst>
              <a:ext uri="{FF2B5EF4-FFF2-40B4-BE49-F238E27FC236}">
                <a16:creationId xmlns:a16="http://schemas.microsoft.com/office/drawing/2014/main" id="{E624AEAC-3E27-7577-990A-E3A1357234D5}"/>
              </a:ext>
            </a:extLst>
          </p:cNvPr>
          <p:cNvSpPr>
            <a:spLocks noGrp="1"/>
          </p:cNvSpPr>
          <p:nvPr>
            <p:ph idx="1"/>
          </p:nvPr>
        </p:nvSpPr>
        <p:spPr/>
        <p:txBody>
          <a:bodyPr/>
          <a:lstStyle/>
          <a:p>
            <a:r>
              <a:rPr lang="en-US" b="1" dirty="0"/>
              <a:t>Key Features of Grafana</a:t>
            </a:r>
          </a:p>
          <a:p>
            <a:r>
              <a:rPr lang="en-US" b="1" dirty="0"/>
              <a:t>1. Beautiful Dashboards</a:t>
            </a:r>
          </a:p>
          <a:p>
            <a:r>
              <a:rPr lang="en-US" dirty="0"/>
              <a:t>Create customizable, interactive, and real-time dashboards.</a:t>
            </a:r>
          </a:p>
          <a:p>
            <a:r>
              <a:rPr lang="en-US" dirty="0"/>
              <a:t>Use different visualization types: </a:t>
            </a:r>
            <a:r>
              <a:rPr lang="en-US" b="1" dirty="0"/>
              <a:t>graphs, gauges, tables, heatmaps, pie charts</a:t>
            </a:r>
            <a:r>
              <a:rPr lang="en-US" dirty="0"/>
              <a:t>, etc.</a:t>
            </a:r>
          </a:p>
          <a:p>
            <a:r>
              <a:rPr lang="en-US" b="1" dirty="0"/>
              <a:t>2. Multiple Data Sources</a:t>
            </a:r>
          </a:p>
          <a:p>
            <a:r>
              <a:rPr lang="en-US" dirty="0"/>
              <a:t>Supports over </a:t>
            </a:r>
            <a:r>
              <a:rPr lang="en-US" b="1" dirty="0"/>
              <a:t>30+ data sources</a:t>
            </a:r>
            <a:r>
              <a:rPr lang="en-US" dirty="0"/>
              <a:t>, including:</a:t>
            </a:r>
          </a:p>
          <a:p>
            <a:pPr lvl="1"/>
            <a:r>
              <a:rPr lang="en-US" b="1" dirty="0"/>
              <a:t>Prometheus</a:t>
            </a:r>
            <a:endParaRPr lang="en-US" dirty="0"/>
          </a:p>
          <a:p>
            <a:endParaRPr lang="en-US" dirty="0"/>
          </a:p>
        </p:txBody>
      </p:sp>
    </p:spTree>
    <p:extLst>
      <p:ext uri="{BB962C8B-B14F-4D97-AF65-F5344CB8AC3E}">
        <p14:creationId xmlns:p14="http://schemas.microsoft.com/office/powerpoint/2010/main" val="1583601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510A8F-D100-04D6-FA59-AF7C308F060A}"/>
              </a:ext>
            </a:extLst>
          </p:cNvPr>
          <p:cNvSpPr>
            <a:spLocks noGrp="1"/>
          </p:cNvSpPr>
          <p:nvPr>
            <p:ph idx="1"/>
          </p:nvPr>
        </p:nvSpPr>
        <p:spPr>
          <a:xfrm>
            <a:off x="761302" y="2267902"/>
            <a:ext cx="10131425" cy="3649133"/>
          </a:xfrm>
        </p:spPr>
        <p:txBody>
          <a:bodyPr>
            <a:normAutofit/>
          </a:bodyPr>
          <a:lstStyle/>
          <a:p>
            <a:pPr marL="0" indent="0">
              <a:buNone/>
            </a:pPr>
            <a:r>
              <a:rPr lang="en-US" b="1" dirty="0"/>
              <a:t> . Alerting System</a:t>
            </a:r>
          </a:p>
          <a:p>
            <a:r>
              <a:rPr lang="en-US" dirty="0"/>
              <a:t>Set alerts on any metric.</a:t>
            </a:r>
          </a:p>
          <a:p>
            <a:r>
              <a:rPr lang="en-US" dirty="0"/>
              <a:t>Get notified via </a:t>
            </a:r>
            <a:r>
              <a:rPr lang="en-US" b="1" dirty="0"/>
              <a:t>Email, Slack, Microsoft Teams, PagerDuty</a:t>
            </a:r>
            <a:r>
              <a:rPr lang="en-US" dirty="0"/>
              <a:t>, and others.</a:t>
            </a:r>
          </a:p>
          <a:p>
            <a:r>
              <a:rPr lang="en-US" dirty="0"/>
              <a:t>Supports </a:t>
            </a:r>
            <a:r>
              <a:rPr lang="en-US" b="1" dirty="0"/>
              <a:t>alert rules, thresholds</a:t>
            </a:r>
            <a:r>
              <a:rPr lang="en-US" dirty="0"/>
              <a:t>, and conditions.</a:t>
            </a:r>
          </a:p>
          <a:p>
            <a:pPr marL="0" indent="0">
              <a:buNone/>
            </a:pPr>
            <a:endParaRPr lang="en-US" dirty="0"/>
          </a:p>
        </p:txBody>
      </p:sp>
    </p:spTree>
    <p:extLst>
      <p:ext uri="{BB962C8B-B14F-4D97-AF65-F5344CB8AC3E}">
        <p14:creationId xmlns:p14="http://schemas.microsoft.com/office/powerpoint/2010/main" val="2664806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EF1F3E-0DFD-8FB8-9375-2F8AB23F5DAF}"/>
              </a:ext>
            </a:extLst>
          </p:cNvPr>
          <p:cNvSpPr>
            <a:spLocks noGrp="1"/>
          </p:cNvSpPr>
          <p:nvPr>
            <p:ph idx="1"/>
          </p:nvPr>
        </p:nvSpPr>
        <p:spPr/>
        <p:txBody>
          <a:bodyPr>
            <a:normAutofit/>
          </a:bodyPr>
          <a:lstStyle/>
          <a:p>
            <a:r>
              <a:rPr lang="en-US" b="1" dirty="0"/>
              <a:t>. Plugins and Extensions</a:t>
            </a:r>
          </a:p>
          <a:p>
            <a:r>
              <a:rPr lang="en-US" dirty="0"/>
              <a:t>Supports </a:t>
            </a:r>
            <a:r>
              <a:rPr lang="en-US" b="1" dirty="0"/>
              <a:t>community and enterprise plugins</a:t>
            </a:r>
            <a:r>
              <a:rPr lang="en-US" dirty="0"/>
              <a:t>.</a:t>
            </a:r>
          </a:p>
          <a:p>
            <a:r>
              <a:rPr lang="en-US" dirty="0"/>
              <a:t>Add new </a:t>
            </a:r>
            <a:r>
              <a:rPr lang="en-US" b="1" dirty="0"/>
              <a:t>visual panels, data sources, apps</a:t>
            </a:r>
            <a:r>
              <a:rPr lang="en-US" dirty="0"/>
              <a:t>, and </a:t>
            </a:r>
            <a:r>
              <a:rPr lang="en-US" b="1" dirty="0"/>
              <a:t>themes</a:t>
            </a:r>
            <a:r>
              <a:rPr lang="en-US" dirty="0"/>
              <a:t>.</a:t>
            </a:r>
          </a:p>
          <a:p>
            <a:endParaRPr lang="en-US" dirty="0"/>
          </a:p>
        </p:txBody>
      </p:sp>
    </p:spTree>
    <p:extLst>
      <p:ext uri="{BB962C8B-B14F-4D97-AF65-F5344CB8AC3E}">
        <p14:creationId xmlns:p14="http://schemas.microsoft.com/office/powerpoint/2010/main" val="526836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C77CBF-7076-C8A1-B50A-A59A817F9540}"/>
              </a:ext>
            </a:extLst>
          </p:cNvPr>
          <p:cNvSpPr>
            <a:spLocks noGrp="1"/>
          </p:cNvSpPr>
          <p:nvPr>
            <p:ph idx="1"/>
          </p:nvPr>
        </p:nvSpPr>
        <p:spPr/>
        <p:txBody>
          <a:bodyPr/>
          <a:lstStyle/>
          <a:p>
            <a:r>
              <a:rPr lang="en-US" b="1" dirty="0"/>
              <a:t>10. Open-Source and Scalable</a:t>
            </a:r>
          </a:p>
          <a:p>
            <a:r>
              <a:rPr lang="en-US" dirty="0"/>
              <a:t>Free and open-source.</a:t>
            </a:r>
          </a:p>
          <a:p>
            <a:r>
              <a:rPr lang="en-US" dirty="0"/>
              <a:t>Also available in </a:t>
            </a:r>
            <a:r>
              <a:rPr lang="en-US" b="1" dirty="0"/>
              <a:t>Grafana Cloud</a:t>
            </a:r>
            <a:r>
              <a:rPr lang="en-US" dirty="0"/>
              <a:t> and </a:t>
            </a:r>
            <a:r>
              <a:rPr lang="en-US" b="1" dirty="0"/>
              <a:t>Enterprise</a:t>
            </a:r>
            <a:r>
              <a:rPr lang="en-US" dirty="0"/>
              <a:t> versions for large-scale and commercial use.</a:t>
            </a:r>
          </a:p>
          <a:p>
            <a:endParaRPr lang="en-US" dirty="0"/>
          </a:p>
        </p:txBody>
      </p:sp>
    </p:spTree>
    <p:extLst>
      <p:ext uri="{BB962C8B-B14F-4D97-AF65-F5344CB8AC3E}">
        <p14:creationId xmlns:p14="http://schemas.microsoft.com/office/powerpoint/2010/main" val="2682335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EF952-66D5-9C42-8A36-7AF202AED748}"/>
              </a:ext>
            </a:extLst>
          </p:cNvPr>
          <p:cNvSpPr>
            <a:spLocks noGrp="1"/>
          </p:cNvSpPr>
          <p:nvPr>
            <p:ph type="title"/>
          </p:nvPr>
        </p:nvSpPr>
        <p:spPr>
          <a:xfrm>
            <a:off x="685801" y="0"/>
            <a:ext cx="10131425" cy="1149293"/>
          </a:xfrm>
        </p:spPr>
        <p:txBody>
          <a:bodyPr>
            <a:normAutofit fontScale="90000"/>
          </a:bodyPr>
          <a:lstStyle/>
          <a:p>
            <a:r>
              <a:rPr lang="en-US" dirty="0"/>
              <a:t>ARCHITECTURE OVERVIEW :-</a:t>
            </a:r>
            <a:br>
              <a:rPr lang="en-US" dirty="0"/>
            </a:br>
            <a:r>
              <a:rPr lang="en-US" dirty="0"/>
              <a:t> </a:t>
            </a:r>
          </a:p>
        </p:txBody>
      </p:sp>
      <p:sp>
        <p:nvSpPr>
          <p:cNvPr id="3" name="Content Placeholder 2">
            <a:extLst>
              <a:ext uri="{FF2B5EF4-FFF2-40B4-BE49-F238E27FC236}">
                <a16:creationId xmlns:a16="http://schemas.microsoft.com/office/drawing/2014/main" id="{17AFC860-34FD-0D30-2615-A74AE417BA41}"/>
              </a:ext>
            </a:extLst>
          </p:cNvPr>
          <p:cNvSpPr>
            <a:spLocks noGrp="1"/>
          </p:cNvSpPr>
          <p:nvPr>
            <p:ph idx="1"/>
          </p:nvPr>
        </p:nvSpPr>
        <p:spPr>
          <a:xfrm>
            <a:off x="685801" y="1812023"/>
            <a:ext cx="10131425" cy="3892491"/>
          </a:xfrm>
        </p:spPr>
        <p:txBody>
          <a:bodyPr>
            <a:normAutofit fontScale="25000" lnSpcReduction="20000"/>
          </a:bodyPr>
          <a:lstStyle/>
          <a:p>
            <a:pPr marL="342900" indent="-342900" algn="ctr">
              <a:buFont typeface="+mj-lt"/>
              <a:buAutoNum type="arabicPeriod"/>
            </a:pPr>
            <a:r>
              <a:rPr lang="en-US" dirty="0"/>
              <a:t> │    Web Browser     │</a:t>
            </a:r>
          </a:p>
          <a:p>
            <a:pPr marL="342900" indent="-342900" algn="ctr">
              <a:buFont typeface="+mj-lt"/>
              <a:buAutoNum type="arabicPeriod"/>
            </a:pPr>
            <a:r>
              <a:rPr lang="en-US" dirty="0"/>
              <a:t>                     │ (User Dashboard UI)│</a:t>
            </a:r>
          </a:p>
          <a:p>
            <a:pPr marL="342900" indent="-342900" algn="ctr">
              <a:buFont typeface="+mj-lt"/>
              <a:buAutoNum type="arabicPeriod"/>
            </a:pPr>
            <a:r>
              <a:rPr lang="en-US" dirty="0"/>
              <a:t>                     └────────┬───────────┘</a:t>
            </a:r>
          </a:p>
          <a:p>
            <a:pPr marL="342900" indent="-342900" algn="ctr">
              <a:buFont typeface="+mj-lt"/>
              <a:buAutoNum type="arabicPeriod"/>
            </a:pPr>
            <a:r>
              <a:rPr lang="en-US" dirty="0"/>
              <a:t>                              │</a:t>
            </a:r>
          </a:p>
          <a:p>
            <a:pPr marL="342900" indent="-342900" algn="ctr">
              <a:buFont typeface="+mj-lt"/>
              <a:buAutoNum type="arabicPeriod"/>
            </a:pPr>
            <a:r>
              <a:rPr lang="en-US" dirty="0"/>
              <a:t>                     HTTP/S   ▼</a:t>
            </a:r>
          </a:p>
          <a:p>
            <a:pPr marL="342900" indent="-342900" algn="ctr">
              <a:buFont typeface="+mj-lt"/>
              <a:buAutoNum type="arabicPeriod"/>
            </a:pPr>
            <a:r>
              <a:rPr lang="en-US" dirty="0"/>
              <a:t>                    ┌────────────────────┐</a:t>
            </a:r>
          </a:p>
          <a:p>
            <a:pPr marL="342900" indent="-342900" algn="ctr">
              <a:buFont typeface="+mj-lt"/>
              <a:buAutoNum type="arabicPeriod"/>
            </a:pPr>
            <a:r>
              <a:rPr lang="en-US" dirty="0"/>
              <a:t>                    │  Grafana Backend   │◄────────┐</a:t>
            </a:r>
          </a:p>
          <a:p>
            <a:pPr marL="342900" indent="-342900" algn="ctr">
              <a:buFont typeface="+mj-lt"/>
              <a:buAutoNum type="arabicPeriod"/>
            </a:pPr>
            <a:r>
              <a:rPr lang="en-US" dirty="0"/>
              <a:t>                    │    (Go Server)     │         │</a:t>
            </a:r>
          </a:p>
          <a:p>
            <a:pPr marL="342900" indent="-342900" algn="ctr">
              <a:buFont typeface="+mj-lt"/>
              <a:buAutoNum type="arabicPeriod"/>
            </a:pPr>
            <a:r>
              <a:rPr lang="en-US" dirty="0"/>
              <a:t>                    └────────┬───────────┘         │</a:t>
            </a:r>
          </a:p>
          <a:p>
            <a:pPr marL="342900" indent="-342900" algn="ctr">
              <a:buFont typeface="+mj-lt"/>
              <a:buAutoNum type="arabicPeriod"/>
            </a:pPr>
            <a:r>
              <a:rPr lang="en-US" dirty="0"/>
              <a:t>                             │                     │</a:t>
            </a:r>
          </a:p>
          <a:p>
            <a:pPr marL="342900" indent="-342900" algn="ctr">
              <a:buFont typeface="+mj-lt"/>
              <a:buAutoNum type="arabicPeriod"/>
            </a:pPr>
            <a:r>
              <a:rPr lang="en-US" dirty="0"/>
              <a:t>        ┌────────────────────┴────────────┐        │</a:t>
            </a:r>
          </a:p>
          <a:p>
            <a:pPr marL="342900" indent="-342900" algn="ctr">
              <a:buFont typeface="+mj-lt"/>
              <a:buAutoNum type="arabicPeriod"/>
            </a:pPr>
            <a:r>
              <a:rPr lang="en-US" dirty="0"/>
              <a:t>        │       Authentication &amp;          │        │</a:t>
            </a:r>
          </a:p>
          <a:p>
            <a:pPr marL="342900" indent="-342900" algn="ctr">
              <a:buFont typeface="+mj-lt"/>
              <a:buAutoNum type="arabicPeriod"/>
            </a:pPr>
            <a:r>
              <a:rPr lang="en-US" dirty="0"/>
              <a:t>        │    User Management Module       │        │</a:t>
            </a:r>
          </a:p>
          <a:p>
            <a:pPr marL="342900" indent="-342900" algn="ctr">
              <a:buFont typeface="+mj-lt"/>
              <a:buAutoNum type="arabicPeriod"/>
            </a:pPr>
            <a:r>
              <a:rPr lang="en-US" dirty="0"/>
              <a:t>        └─────────────────────────────────┘        │</a:t>
            </a:r>
          </a:p>
          <a:p>
            <a:pPr marL="342900" indent="-342900" algn="ctr">
              <a:buFont typeface="+mj-lt"/>
              <a:buAutoNum type="arabicPeriod"/>
            </a:pPr>
            <a:r>
              <a:rPr lang="en-US" dirty="0"/>
              <a:t>                             │                     │</a:t>
            </a:r>
          </a:p>
          <a:p>
            <a:pPr marL="342900" indent="-342900" algn="ctr">
              <a:buFont typeface="+mj-lt"/>
              <a:buAutoNum type="arabicPeriod"/>
            </a:pPr>
            <a:r>
              <a:rPr lang="en-US" dirty="0"/>
              <a:t>        ┌────────────────────┴────────────┐        │</a:t>
            </a:r>
          </a:p>
          <a:p>
            <a:pPr marL="342900" indent="-342900" algn="ctr">
              <a:buFont typeface="+mj-lt"/>
              <a:buAutoNum type="arabicPeriod"/>
            </a:pPr>
            <a:r>
              <a:rPr lang="en-US" dirty="0"/>
              <a:t>        │ Dashboard &amp; Panel Engine        │        │</a:t>
            </a:r>
          </a:p>
          <a:p>
            <a:pPr marL="342900" indent="-342900" algn="ctr">
              <a:buFont typeface="+mj-lt"/>
              <a:buAutoNum type="arabicPeriod"/>
            </a:pPr>
            <a:r>
              <a:rPr lang="en-US" dirty="0"/>
              <a:t>        └─────────────────────────────────┘        │</a:t>
            </a:r>
          </a:p>
          <a:p>
            <a:pPr marL="342900" indent="-342900" algn="ctr">
              <a:buFont typeface="+mj-lt"/>
              <a:buAutoNum type="arabicPeriod"/>
            </a:pPr>
            <a:r>
              <a:rPr lang="en-US" dirty="0"/>
              <a:t>                             │                     │</a:t>
            </a:r>
          </a:p>
          <a:p>
            <a:pPr marL="342900" indent="-342900" algn="ctr">
              <a:buFont typeface="+mj-lt"/>
              <a:buAutoNum type="arabicPeriod"/>
            </a:pPr>
            <a:r>
              <a:rPr lang="en-US" dirty="0"/>
              <a:t>        ┌────────────────────┴────────────┐        │</a:t>
            </a:r>
          </a:p>
          <a:p>
            <a:pPr marL="342900" indent="-342900" algn="ctr">
              <a:buFont typeface="+mj-lt"/>
              <a:buAutoNum type="arabicPeriod"/>
            </a:pPr>
            <a:r>
              <a:rPr lang="en-US" dirty="0"/>
              <a:t>        │   Alerting &amp; Notification Engine│        │</a:t>
            </a:r>
          </a:p>
          <a:p>
            <a:pPr marL="342900" indent="-342900" algn="ctr">
              <a:buFont typeface="+mj-lt"/>
              <a:buAutoNum type="arabicPeriod"/>
            </a:pPr>
            <a:r>
              <a:rPr lang="en-US" dirty="0"/>
              <a:t>        └─────────────────────────────────┘        │</a:t>
            </a:r>
          </a:p>
          <a:p>
            <a:pPr marL="342900" indent="-342900" algn="ctr">
              <a:buFont typeface="+mj-lt"/>
              <a:buAutoNum type="arabicPeriod"/>
            </a:pPr>
            <a:r>
              <a:rPr lang="en-US" dirty="0"/>
              <a:t>                             │                     │</a:t>
            </a:r>
          </a:p>
          <a:p>
            <a:pPr marL="342900" indent="-342900" algn="ctr">
              <a:buFont typeface="+mj-lt"/>
              <a:buAutoNum type="arabicPeriod"/>
            </a:pPr>
            <a:r>
              <a:rPr lang="en-US" dirty="0"/>
              <a:t>                             ▼                     │</a:t>
            </a:r>
          </a:p>
          <a:p>
            <a:pPr marL="342900" indent="-342900" algn="ctr">
              <a:buFont typeface="+mj-lt"/>
              <a:buAutoNum type="arabicPeriod"/>
            </a:pPr>
            <a:r>
              <a:rPr lang="en-US" dirty="0"/>
              <a:t>                    ┌────────────────────┐         │</a:t>
            </a:r>
          </a:p>
          <a:p>
            <a:pPr marL="342900" indent="-342900" algn="ctr">
              <a:buFont typeface="+mj-lt"/>
              <a:buAutoNum type="arabicPeriod"/>
            </a:pPr>
            <a:r>
              <a:rPr lang="en-US" dirty="0"/>
              <a:t>                    │  Plugin Interface  │         │</a:t>
            </a:r>
          </a:p>
          <a:p>
            <a:pPr marL="342900" indent="-342900" algn="ctr">
              <a:buFont typeface="+mj-lt"/>
              <a:buAutoNum type="arabicPeriod"/>
            </a:pPr>
            <a:r>
              <a:rPr lang="en-US" dirty="0"/>
              <a:t>                    └────────┬───────────┘         │</a:t>
            </a:r>
          </a:p>
          <a:p>
            <a:pPr marL="342900" indent="-342900" algn="ctr">
              <a:buFont typeface="+mj-lt"/>
              <a:buAutoNum type="arabicPeriod"/>
            </a:pPr>
            <a:r>
              <a:rPr lang="en-US" dirty="0"/>
              <a:t>                             │                     │</a:t>
            </a:r>
          </a:p>
          <a:p>
            <a:pPr marL="342900" indent="-342900" algn="ctr">
              <a:buFont typeface="+mj-lt"/>
              <a:buAutoNum type="arabicPeriod"/>
            </a:pPr>
            <a:r>
              <a:rPr lang="en-US" dirty="0"/>
              <a:t>            ┌────────────────┴─────────────────────┴────────────┐</a:t>
            </a:r>
          </a:p>
          <a:p>
            <a:pPr marL="342900" indent="-342900" algn="ctr">
              <a:buFont typeface="+mj-lt"/>
              <a:buAutoNum type="arabicPeriod"/>
            </a:pPr>
            <a:r>
              <a:rPr lang="en-US" dirty="0"/>
              <a:t>            │                     Data Sources                   │</a:t>
            </a:r>
          </a:p>
          <a:p>
            <a:pPr marL="342900" indent="-342900" algn="ctr">
              <a:buFont typeface="+mj-lt"/>
              <a:buAutoNum type="arabicPeriod"/>
            </a:pPr>
            <a:r>
              <a:rPr lang="en-US" dirty="0"/>
              <a:t>            │  (Prometheus, </a:t>
            </a:r>
            <a:r>
              <a:rPr lang="en-US" dirty="0" err="1"/>
              <a:t>InfluxDB</a:t>
            </a:r>
            <a:r>
              <a:rPr lang="en-US" dirty="0"/>
              <a:t>, MySQL, CloudWatch, etc.)  │</a:t>
            </a:r>
          </a:p>
          <a:p>
            <a:pPr marL="342900" indent="-342900" algn="ctr">
              <a:buFont typeface="+mj-lt"/>
              <a:buAutoNum type="arabicPeriod"/>
            </a:pPr>
            <a:r>
              <a:rPr lang="en-US" dirty="0"/>
              <a:t>            └────────────────────────────────────────────────────┘</a:t>
            </a:r>
          </a:p>
        </p:txBody>
      </p:sp>
    </p:spTree>
    <p:extLst>
      <p:ext uri="{BB962C8B-B14F-4D97-AF65-F5344CB8AC3E}">
        <p14:creationId xmlns:p14="http://schemas.microsoft.com/office/powerpoint/2010/main" val="1193618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2012-F4DE-D7F2-F019-D468604560A8}"/>
              </a:ext>
            </a:extLst>
          </p:cNvPr>
          <p:cNvSpPr>
            <a:spLocks noGrp="1"/>
          </p:cNvSpPr>
          <p:nvPr>
            <p:ph type="title"/>
          </p:nvPr>
        </p:nvSpPr>
        <p:spPr/>
        <p:txBody>
          <a:bodyPr/>
          <a:lstStyle/>
          <a:p>
            <a:r>
              <a:rPr lang="en-US" dirty="0"/>
              <a:t>COMPONENT WITH ITS DESCRIPTION:-</a:t>
            </a:r>
            <a:br>
              <a:rPr lang="en-US" dirty="0"/>
            </a:br>
            <a:endParaRPr lang="en-US" dirty="0"/>
          </a:p>
        </p:txBody>
      </p:sp>
      <p:graphicFrame>
        <p:nvGraphicFramePr>
          <p:cNvPr id="4" name="Content Placeholder 3">
            <a:extLst>
              <a:ext uri="{FF2B5EF4-FFF2-40B4-BE49-F238E27FC236}">
                <a16:creationId xmlns:a16="http://schemas.microsoft.com/office/drawing/2014/main" id="{6C88DE72-3628-89ED-ECA4-06B50D6ACF02}"/>
              </a:ext>
            </a:extLst>
          </p:cNvPr>
          <p:cNvGraphicFramePr>
            <a:graphicFrameLocks noGrp="1"/>
          </p:cNvGraphicFramePr>
          <p:nvPr>
            <p:ph idx="1"/>
          </p:nvPr>
        </p:nvGraphicFramePr>
        <p:xfrm>
          <a:off x="2490403" y="2084985"/>
          <a:ext cx="6522218" cy="3762768"/>
        </p:xfrm>
        <a:graphic>
          <a:graphicData uri="http://schemas.openxmlformats.org/drawingml/2006/table">
            <a:tbl>
              <a:tblPr/>
              <a:tblGrid>
                <a:gridCol w="3261109">
                  <a:extLst>
                    <a:ext uri="{9D8B030D-6E8A-4147-A177-3AD203B41FA5}">
                      <a16:colId xmlns:a16="http://schemas.microsoft.com/office/drawing/2014/main" val="2110277566"/>
                    </a:ext>
                  </a:extLst>
                </a:gridCol>
                <a:gridCol w="3261109">
                  <a:extLst>
                    <a:ext uri="{9D8B030D-6E8A-4147-A177-3AD203B41FA5}">
                      <a16:colId xmlns:a16="http://schemas.microsoft.com/office/drawing/2014/main" val="1046077358"/>
                    </a:ext>
                  </a:extLst>
                </a:gridCol>
              </a:tblGrid>
              <a:tr h="235462">
                <a:tc>
                  <a:txBody>
                    <a:bodyPr/>
                    <a:lstStyle/>
                    <a:p>
                      <a:r>
                        <a:rPr lang="en-US" sz="1200"/>
                        <a:t>Component</a:t>
                      </a:r>
                    </a:p>
                  </a:txBody>
                  <a:tcPr marL="58866" marR="58866" marT="29433" marB="29433" anchor="ctr">
                    <a:lnL>
                      <a:noFill/>
                    </a:lnL>
                    <a:lnR>
                      <a:noFill/>
                    </a:lnR>
                    <a:lnT>
                      <a:noFill/>
                    </a:lnT>
                    <a:lnB>
                      <a:noFill/>
                    </a:lnB>
                    <a:noFill/>
                  </a:tcPr>
                </a:tc>
                <a:tc>
                  <a:txBody>
                    <a:bodyPr/>
                    <a:lstStyle/>
                    <a:p>
                      <a:r>
                        <a:rPr lang="en-US" sz="1200"/>
                        <a:t>Description</a:t>
                      </a:r>
                    </a:p>
                  </a:txBody>
                  <a:tcPr marL="58866" marR="58866" marT="29433" marB="29433" anchor="ctr">
                    <a:lnL>
                      <a:noFill/>
                    </a:lnL>
                    <a:lnR>
                      <a:noFill/>
                    </a:lnR>
                    <a:lnT>
                      <a:noFill/>
                    </a:lnT>
                    <a:lnB>
                      <a:noFill/>
                    </a:lnB>
                    <a:noFill/>
                  </a:tcPr>
                </a:tc>
                <a:extLst>
                  <a:ext uri="{0D108BD9-81ED-4DB2-BD59-A6C34878D82A}">
                    <a16:rowId xmlns:a16="http://schemas.microsoft.com/office/drawing/2014/main" val="3611404502"/>
                  </a:ext>
                </a:extLst>
              </a:tr>
              <a:tr h="588655">
                <a:tc>
                  <a:txBody>
                    <a:bodyPr/>
                    <a:lstStyle/>
                    <a:p>
                      <a:r>
                        <a:rPr lang="en-US" sz="1200" b="1"/>
                        <a:t>1. Web Browser (Frontend UI)</a:t>
                      </a:r>
                      <a:endParaRPr lang="en-US" sz="1200"/>
                    </a:p>
                  </a:txBody>
                  <a:tcPr marL="58866" marR="58866" marT="29433" marB="29433" anchor="ctr">
                    <a:lnL>
                      <a:noFill/>
                    </a:lnL>
                    <a:lnR>
                      <a:noFill/>
                    </a:lnR>
                    <a:lnT>
                      <a:noFill/>
                    </a:lnT>
                    <a:lnB>
                      <a:noFill/>
                    </a:lnB>
                    <a:noFill/>
                  </a:tcPr>
                </a:tc>
                <a:tc>
                  <a:txBody>
                    <a:bodyPr/>
                    <a:lstStyle/>
                    <a:p>
                      <a:r>
                        <a:rPr lang="en-US" sz="1200"/>
                        <a:t>Users interact with Grafana using the web interface. Dashboards, graphs, and settings are all accessible here.</a:t>
                      </a:r>
                    </a:p>
                  </a:txBody>
                  <a:tcPr marL="58866" marR="58866" marT="29433" marB="29433" anchor="ctr">
                    <a:lnL>
                      <a:noFill/>
                    </a:lnL>
                    <a:lnR>
                      <a:noFill/>
                    </a:lnR>
                    <a:lnT>
                      <a:noFill/>
                    </a:lnT>
                    <a:lnB>
                      <a:noFill/>
                    </a:lnB>
                    <a:noFill/>
                  </a:tcPr>
                </a:tc>
                <a:extLst>
                  <a:ext uri="{0D108BD9-81ED-4DB2-BD59-A6C34878D82A}">
                    <a16:rowId xmlns:a16="http://schemas.microsoft.com/office/drawing/2014/main" val="1741448158"/>
                  </a:ext>
                </a:extLst>
              </a:tr>
              <a:tr h="588655">
                <a:tc>
                  <a:txBody>
                    <a:bodyPr/>
                    <a:lstStyle/>
                    <a:p>
                      <a:r>
                        <a:rPr lang="en-US" sz="1200" b="1"/>
                        <a:t>2. Grafana Backend (Go Server)</a:t>
                      </a:r>
                      <a:endParaRPr lang="en-US" sz="1200"/>
                    </a:p>
                  </a:txBody>
                  <a:tcPr marL="58866" marR="58866" marT="29433" marB="29433" anchor="ctr">
                    <a:lnL>
                      <a:noFill/>
                    </a:lnL>
                    <a:lnR>
                      <a:noFill/>
                    </a:lnR>
                    <a:lnT>
                      <a:noFill/>
                    </a:lnT>
                    <a:lnB>
                      <a:noFill/>
                    </a:lnB>
                    <a:noFill/>
                  </a:tcPr>
                </a:tc>
                <a:tc>
                  <a:txBody>
                    <a:bodyPr/>
                    <a:lstStyle/>
                    <a:p>
                      <a:r>
                        <a:rPr lang="en-US" sz="1200"/>
                        <a:t>Core engine written in Go. Handles API requests, user authentication, dashboard logic, and talks to data sources.</a:t>
                      </a:r>
                    </a:p>
                  </a:txBody>
                  <a:tcPr marL="58866" marR="58866" marT="29433" marB="29433" anchor="ctr">
                    <a:lnL>
                      <a:noFill/>
                    </a:lnL>
                    <a:lnR>
                      <a:noFill/>
                    </a:lnR>
                    <a:lnT>
                      <a:noFill/>
                    </a:lnT>
                    <a:lnB>
                      <a:noFill/>
                    </a:lnB>
                    <a:noFill/>
                  </a:tcPr>
                </a:tc>
                <a:extLst>
                  <a:ext uri="{0D108BD9-81ED-4DB2-BD59-A6C34878D82A}">
                    <a16:rowId xmlns:a16="http://schemas.microsoft.com/office/drawing/2014/main" val="2038703795"/>
                  </a:ext>
                </a:extLst>
              </a:tr>
              <a:tr h="412059">
                <a:tc>
                  <a:txBody>
                    <a:bodyPr/>
                    <a:lstStyle/>
                    <a:p>
                      <a:r>
                        <a:rPr lang="en-US" sz="1200" b="1"/>
                        <a:t>3. Authentication Module</a:t>
                      </a:r>
                      <a:endParaRPr lang="en-US" sz="1200"/>
                    </a:p>
                  </a:txBody>
                  <a:tcPr marL="58866" marR="58866" marT="29433" marB="29433" anchor="ctr">
                    <a:lnL>
                      <a:noFill/>
                    </a:lnL>
                    <a:lnR>
                      <a:noFill/>
                    </a:lnR>
                    <a:lnT>
                      <a:noFill/>
                    </a:lnT>
                    <a:lnB>
                      <a:noFill/>
                    </a:lnB>
                    <a:noFill/>
                  </a:tcPr>
                </a:tc>
                <a:tc>
                  <a:txBody>
                    <a:bodyPr/>
                    <a:lstStyle/>
                    <a:p>
                      <a:r>
                        <a:rPr lang="en-US" sz="1200"/>
                        <a:t>Supports local login, LDAP, OAuth, Google, GitHub, etc.</a:t>
                      </a:r>
                    </a:p>
                  </a:txBody>
                  <a:tcPr marL="58866" marR="58866" marT="29433" marB="29433" anchor="ctr">
                    <a:lnL>
                      <a:noFill/>
                    </a:lnL>
                    <a:lnR>
                      <a:noFill/>
                    </a:lnR>
                    <a:lnT>
                      <a:noFill/>
                    </a:lnT>
                    <a:lnB>
                      <a:noFill/>
                    </a:lnB>
                    <a:noFill/>
                  </a:tcPr>
                </a:tc>
                <a:extLst>
                  <a:ext uri="{0D108BD9-81ED-4DB2-BD59-A6C34878D82A}">
                    <a16:rowId xmlns:a16="http://schemas.microsoft.com/office/drawing/2014/main" val="484961856"/>
                  </a:ext>
                </a:extLst>
              </a:tr>
              <a:tr h="412059">
                <a:tc>
                  <a:txBody>
                    <a:bodyPr/>
                    <a:lstStyle/>
                    <a:p>
                      <a:r>
                        <a:rPr lang="en-US" sz="1200" b="1"/>
                        <a:t>4. Dashboard &amp; Panel Engine</a:t>
                      </a:r>
                      <a:endParaRPr lang="en-US" sz="1200"/>
                    </a:p>
                  </a:txBody>
                  <a:tcPr marL="58866" marR="58866" marT="29433" marB="29433" anchor="ctr">
                    <a:lnL>
                      <a:noFill/>
                    </a:lnL>
                    <a:lnR>
                      <a:noFill/>
                    </a:lnR>
                    <a:lnT>
                      <a:noFill/>
                    </a:lnT>
                    <a:lnB>
                      <a:noFill/>
                    </a:lnB>
                    <a:noFill/>
                  </a:tcPr>
                </a:tc>
                <a:tc>
                  <a:txBody>
                    <a:bodyPr/>
                    <a:lstStyle/>
                    <a:p>
                      <a:r>
                        <a:rPr lang="en-US" sz="1200"/>
                        <a:t>Manages dashboards and panels. Retrieves data and formats it for display.</a:t>
                      </a:r>
                    </a:p>
                  </a:txBody>
                  <a:tcPr marL="58866" marR="58866" marT="29433" marB="29433" anchor="ctr">
                    <a:lnL>
                      <a:noFill/>
                    </a:lnL>
                    <a:lnR>
                      <a:noFill/>
                    </a:lnR>
                    <a:lnT>
                      <a:noFill/>
                    </a:lnT>
                    <a:lnB>
                      <a:noFill/>
                    </a:lnB>
                    <a:noFill/>
                  </a:tcPr>
                </a:tc>
                <a:extLst>
                  <a:ext uri="{0D108BD9-81ED-4DB2-BD59-A6C34878D82A}">
                    <a16:rowId xmlns:a16="http://schemas.microsoft.com/office/drawing/2014/main" val="1127194646"/>
                  </a:ext>
                </a:extLst>
              </a:tr>
              <a:tr h="412059">
                <a:tc>
                  <a:txBody>
                    <a:bodyPr/>
                    <a:lstStyle/>
                    <a:p>
                      <a:r>
                        <a:rPr lang="en-US" sz="1200" b="1"/>
                        <a:t>5. Alerting &amp; Notification Engine</a:t>
                      </a:r>
                      <a:endParaRPr lang="en-US" sz="1200"/>
                    </a:p>
                  </a:txBody>
                  <a:tcPr marL="58866" marR="58866" marT="29433" marB="29433" anchor="ctr">
                    <a:lnL>
                      <a:noFill/>
                    </a:lnL>
                    <a:lnR>
                      <a:noFill/>
                    </a:lnR>
                    <a:lnT>
                      <a:noFill/>
                    </a:lnT>
                    <a:lnB>
                      <a:noFill/>
                    </a:lnB>
                    <a:noFill/>
                  </a:tcPr>
                </a:tc>
                <a:tc>
                  <a:txBody>
                    <a:bodyPr/>
                    <a:lstStyle/>
                    <a:p>
                      <a:r>
                        <a:rPr lang="en-US" sz="1200"/>
                        <a:t>Monitors data for threshold breaches and sends alerts.</a:t>
                      </a:r>
                    </a:p>
                  </a:txBody>
                  <a:tcPr marL="58866" marR="58866" marT="29433" marB="29433" anchor="ctr">
                    <a:lnL>
                      <a:noFill/>
                    </a:lnL>
                    <a:lnR>
                      <a:noFill/>
                    </a:lnR>
                    <a:lnT>
                      <a:noFill/>
                    </a:lnT>
                    <a:lnB>
                      <a:noFill/>
                    </a:lnB>
                    <a:noFill/>
                  </a:tcPr>
                </a:tc>
                <a:extLst>
                  <a:ext uri="{0D108BD9-81ED-4DB2-BD59-A6C34878D82A}">
                    <a16:rowId xmlns:a16="http://schemas.microsoft.com/office/drawing/2014/main" val="1713678405"/>
                  </a:ext>
                </a:extLst>
              </a:tr>
              <a:tr h="412059">
                <a:tc>
                  <a:txBody>
                    <a:bodyPr/>
                    <a:lstStyle/>
                    <a:p>
                      <a:r>
                        <a:rPr lang="en-US" sz="1200" b="1"/>
                        <a:t>6. Plugin Interface</a:t>
                      </a:r>
                      <a:endParaRPr lang="en-US" sz="1200"/>
                    </a:p>
                  </a:txBody>
                  <a:tcPr marL="58866" marR="58866" marT="29433" marB="29433" anchor="ctr">
                    <a:lnL>
                      <a:noFill/>
                    </a:lnL>
                    <a:lnR>
                      <a:noFill/>
                    </a:lnR>
                    <a:lnT>
                      <a:noFill/>
                    </a:lnT>
                    <a:lnB>
                      <a:noFill/>
                    </a:lnB>
                    <a:noFill/>
                  </a:tcPr>
                </a:tc>
                <a:tc>
                  <a:txBody>
                    <a:bodyPr/>
                    <a:lstStyle/>
                    <a:p>
                      <a:r>
                        <a:rPr lang="en-US" sz="1200"/>
                        <a:t>Extend Grafana using community/enterprise plugins for new panels, apps, and data sources.</a:t>
                      </a:r>
                    </a:p>
                  </a:txBody>
                  <a:tcPr marL="58866" marR="58866" marT="29433" marB="29433" anchor="ctr">
                    <a:lnL>
                      <a:noFill/>
                    </a:lnL>
                    <a:lnR>
                      <a:noFill/>
                    </a:lnR>
                    <a:lnT>
                      <a:noFill/>
                    </a:lnT>
                    <a:lnB>
                      <a:noFill/>
                    </a:lnB>
                    <a:noFill/>
                  </a:tcPr>
                </a:tc>
                <a:extLst>
                  <a:ext uri="{0D108BD9-81ED-4DB2-BD59-A6C34878D82A}">
                    <a16:rowId xmlns:a16="http://schemas.microsoft.com/office/drawing/2014/main" val="3783294127"/>
                  </a:ext>
                </a:extLst>
              </a:tr>
              <a:tr h="588655">
                <a:tc>
                  <a:txBody>
                    <a:bodyPr/>
                    <a:lstStyle/>
                    <a:p>
                      <a:r>
                        <a:rPr lang="en-US" sz="1200" b="1"/>
                        <a:t>7. Data Sources</a:t>
                      </a:r>
                      <a:endParaRPr lang="en-US" sz="1200"/>
                    </a:p>
                  </a:txBody>
                  <a:tcPr marL="58866" marR="58866" marT="29433" marB="29433" anchor="ctr">
                    <a:lnL>
                      <a:noFill/>
                    </a:lnL>
                    <a:lnR>
                      <a:noFill/>
                    </a:lnR>
                    <a:lnT>
                      <a:noFill/>
                    </a:lnT>
                    <a:lnB>
                      <a:noFill/>
                    </a:lnB>
                    <a:noFill/>
                  </a:tcPr>
                </a:tc>
                <a:tc>
                  <a:txBody>
                    <a:bodyPr/>
                    <a:lstStyle/>
                    <a:p>
                      <a:r>
                        <a:rPr lang="en-US" sz="1200" dirty="0"/>
                        <a:t>Grafana connects to external databases or monitoring tools to fetch metrics/logs (e.g., Prometheus, </a:t>
                      </a:r>
                      <a:r>
                        <a:rPr lang="en-US" sz="1200" dirty="0" err="1"/>
                        <a:t>InfluxDB</a:t>
                      </a:r>
                      <a:r>
                        <a:rPr lang="en-US" sz="1200" dirty="0"/>
                        <a:t>, CloudWatch).</a:t>
                      </a:r>
                    </a:p>
                  </a:txBody>
                  <a:tcPr marL="58866" marR="58866" marT="29433" marB="29433" anchor="ctr">
                    <a:lnL>
                      <a:noFill/>
                    </a:lnL>
                    <a:lnR>
                      <a:noFill/>
                    </a:lnR>
                    <a:lnT>
                      <a:noFill/>
                    </a:lnT>
                    <a:lnB>
                      <a:noFill/>
                    </a:lnB>
                    <a:noFill/>
                  </a:tcPr>
                </a:tc>
                <a:extLst>
                  <a:ext uri="{0D108BD9-81ED-4DB2-BD59-A6C34878D82A}">
                    <a16:rowId xmlns:a16="http://schemas.microsoft.com/office/drawing/2014/main" val="1125774513"/>
                  </a:ext>
                </a:extLst>
              </a:tr>
            </a:tbl>
          </a:graphicData>
        </a:graphic>
      </p:graphicFrame>
    </p:spTree>
    <p:extLst>
      <p:ext uri="{BB962C8B-B14F-4D97-AF65-F5344CB8AC3E}">
        <p14:creationId xmlns:p14="http://schemas.microsoft.com/office/powerpoint/2010/main" val="81404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40519-FDD8-A828-1D70-876EFF53E2D8}"/>
              </a:ext>
            </a:extLst>
          </p:cNvPr>
          <p:cNvSpPr>
            <a:spLocks noGrp="1"/>
          </p:cNvSpPr>
          <p:nvPr>
            <p:ph type="title"/>
          </p:nvPr>
        </p:nvSpPr>
        <p:spPr/>
        <p:txBody>
          <a:bodyPr/>
          <a:lstStyle/>
          <a:p>
            <a:r>
              <a:rPr lang="en-US" dirty="0"/>
              <a:t>HOW TO IMPLEMENT GRAFANA ON THE AWS MANAGEMENT CONSOLE </a:t>
            </a:r>
          </a:p>
        </p:txBody>
      </p:sp>
      <p:sp>
        <p:nvSpPr>
          <p:cNvPr id="3" name="Content Placeholder 2">
            <a:extLst>
              <a:ext uri="{FF2B5EF4-FFF2-40B4-BE49-F238E27FC236}">
                <a16:creationId xmlns:a16="http://schemas.microsoft.com/office/drawing/2014/main" id="{C4A9E840-551B-91F8-539C-1C1B30CC9952}"/>
              </a:ext>
            </a:extLst>
          </p:cNvPr>
          <p:cNvSpPr>
            <a:spLocks noGrp="1"/>
          </p:cNvSpPr>
          <p:nvPr>
            <p:ph idx="1"/>
          </p:nvPr>
        </p:nvSpPr>
        <p:spPr/>
        <p:txBody>
          <a:bodyPr/>
          <a:lstStyle/>
          <a:p>
            <a:r>
              <a:rPr lang="en-US" dirty="0"/>
              <a:t>GO THE AWS MANAGEMENT CONSOLE , THEN GO TO THE SERVICES AND THEN GO THE EC2 INSTANCE AND THEN GO TO LAUCH INSTANCE AND OPEN THAT TAB AND THEN GO TO THE AND MAKE INSTANCE AND AFTER THAT LAUNCH INSTANCE .</a:t>
            </a:r>
          </a:p>
        </p:txBody>
      </p:sp>
    </p:spTree>
    <p:extLst>
      <p:ext uri="{BB962C8B-B14F-4D97-AF65-F5344CB8AC3E}">
        <p14:creationId xmlns:p14="http://schemas.microsoft.com/office/powerpoint/2010/main" val="733248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312EF-6C83-6FEF-6D7D-05BB8E8F8B71}"/>
              </a:ext>
            </a:extLst>
          </p:cNvPr>
          <p:cNvSpPr>
            <a:spLocks noGrp="1"/>
          </p:cNvSpPr>
          <p:nvPr>
            <p:ph type="title"/>
          </p:nvPr>
        </p:nvSpPr>
        <p:spPr/>
        <p:txBody>
          <a:bodyPr>
            <a:normAutofit fontScale="90000"/>
          </a:bodyPr>
          <a:lstStyle/>
          <a:p>
            <a:r>
              <a:rPr lang="en-US" dirty="0"/>
              <a:t>CREATING AND EC2 INSTANCE AND CONNECT IT EC2 INSTANCE :-</a:t>
            </a:r>
            <a:br>
              <a:rPr lang="en-US" dirty="0"/>
            </a:br>
            <a:endParaRPr lang="en-US" dirty="0"/>
          </a:p>
        </p:txBody>
      </p:sp>
      <p:pic>
        <p:nvPicPr>
          <p:cNvPr id="5" name="Content Placeholder 4">
            <a:extLst>
              <a:ext uri="{FF2B5EF4-FFF2-40B4-BE49-F238E27FC236}">
                <a16:creationId xmlns:a16="http://schemas.microsoft.com/office/drawing/2014/main" id="{F76047A1-8ED5-E203-8AA3-2882500E92DB}"/>
              </a:ext>
            </a:extLst>
          </p:cNvPr>
          <p:cNvPicPr>
            <a:picLocks noGrp="1" noChangeAspect="1"/>
          </p:cNvPicPr>
          <p:nvPr>
            <p:ph idx="1"/>
          </p:nvPr>
        </p:nvPicPr>
        <p:blipFill>
          <a:blip r:embed="rId2"/>
          <a:stretch>
            <a:fillRect/>
          </a:stretch>
        </p:blipFill>
        <p:spPr>
          <a:xfrm>
            <a:off x="2507368" y="2141538"/>
            <a:ext cx="6488288" cy="3649662"/>
          </a:xfrm>
        </p:spPr>
      </p:pic>
    </p:spTree>
    <p:extLst>
      <p:ext uri="{BB962C8B-B14F-4D97-AF65-F5344CB8AC3E}">
        <p14:creationId xmlns:p14="http://schemas.microsoft.com/office/powerpoint/2010/main" val="163892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A58B6-506C-12A5-E5D4-C32139D1231E}"/>
              </a:ext>
            </a:extLst>
          </p:cNvPr>
          <p:cNvSpPr>
            <a:spLocks noGrp="1"/>
          </p:cNvSpPr>
          <p:nvPr>
            <p:ph type="title"/>
          </p:nvPr>
        </p:nvSpPr>
        <p:spPr/>
        <p:txBody>
          <a:bodyPr/>
          <a:lstStyle/>
          <a:p>
            <a:r>
              <a:rPr lang="en-US" dirty="0"/>
              <a:t>HOW TO CONNECT EC2 INSTANCE :-</a:t>
            </a:r>
          </a:p>
        </p:txBody>
      </p:sp>
      <p:sp>
        <p:nvSpPr>
          <p:cNvPr id="7" name="Content Placeholder 6">
            <a:extLst>
              <a:ext uri="{FF2B5EF4-FFF2-40B4-BE49-F238E27FC236}">
                <a16:creationId xmlns:a16="http://schemas.microsoft.com/office/drawing/2014/main" id="{9E251118-7771-9832-3B80-C93DB1EA5DF7}"/>
              </a:ext>
            </a:extLst>
          </p:cNvPr>
          <p:cNvSpPr>
            <a:spLocks noGrp="1"/>
          </p:cNvSpPr>
          <p:nvPr>
            <p:ph idx="1"/>
          </p:nvPr>
        </p:nvSpPr>
        <p:spPr/>
        <p:txBody>
          <a:bodyPr/>
          <a:lstStyle/>
          <a:p>
            <a:r>
              <a:rPr lang="en-US" dirty="0"/>
              <a:t>TO CONNECT EC2 INSTACNCE, YOU HAVE TO CONNECT THAT INSTANCE :-</a:t>
            </a:r>
          </a:p>
        </p:txBody>
      </p:sp>
    </p:spTree>
    <p:extLst>
      <p:ext uri="{BB962C8B-B14F-4D97-AF65-F5344CB8AC3E}">
        <p14:creationId xmlns:p14="http://schemas.microsoft.com/office/powerpoint/2010/main" val="119763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7AAA7-2B57-3D8D-6301-FC10B3CAAD2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1EC21F1-4C0C-D82E-080D-330CEE986F83}"/>
              </a:ext>
            </a:extLst>
          </p:cNvPr>
          <p:cNvSpPr>
            <a:spLocks noGrp="1"/>
          </p:cNvSpPr>
          <p:nvPr>
            <p:ph idx="1"/>
          </p:nvPr>
        </p:nvSpPr>
        <p:spPr/>
        <p:txBody>
          <a:bodyPr/>
          <a:lstStyle/>
          <a:p>
            <a:endParaRPr lang="en-US" dirty="0"/>
          </a:p>
          <a:p>
            <a:endParaRPr lang="en-US" dirty="0"/>
          </a:p>
        </p:txBody>
      </p:sp>
      <p:pic>
        <p:nvPicPr>
          <p:cNvPr id="5" name="Picture 4">
            <a:extLst>
              <a:ext uri="{FF2B5EF4-FFF2-40B4-BE49-F238E27FC236}">
                <a16:creationId xmlns:a16="http://schemas.microsoft.com/office/drawing/2014/main" id="{C164146C-D9A8-0A38-07BF-D83E46BD9249}"/>
              </a:ext>
            </a:extLst>
          </p:cNvPr>
          <p:cNvPicPr>
            <a:picLocks noChangeAspect="1"/>
          </p:cNvPicPr>
          <p:nvPr/>
        </p:nvPicPr>
        <p:blipFill>
          <a:blip r:embed="rId2"/>
          <a:stretch>
            <a:fillRect/>
          </a:stretch>
        </p:blipFill>
        <p:spPr>
          <a:xfrm>
            <a:off x="612395" y="2365694"/>
            <a:ext cx="9826305" cy="4207079"/>
          </a:xfrm>
          <a:prstGeom prst="rect">
            <a:avLst/>
          </a:prstGeom>
        </p:spPr>
      </p:pic>
    </p:spTree>
    <p:extLst>
      <p:ext uri="{BB962C8B-B14F-4D97-AF65-F5344CB8AC3E}">
        <p14:creationId xmlns:p14="http://schemas.microsoft.com/office/powerpoint/2010/main" val="2627781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2C2E1-9F6F-41B5-9CA7-442F5248469D}"/>
              </a:ext>
            </a:extLst>
          </p:cNvPr>
          <p:cNvSpPr>
            <a:spLocks noGrp="1"/>
          </p:cNvSpPr>
          <p:nvPr>
            <p:ph type="title"/>
          </p:nvPr>
        </p:nvSpPr>
        <p:spPr/>
        <p:txBody>
          <a:bodyPr>
            <a:normAutofit fontScale="90000"/>
          </a:bodyPr>
          <a:lstStyle/>
          <a:p>
            <a:r>
              <a:rPr lang="en-US" dirty="0"/>
              <a:t>THEN AFTER CONNECT YOU HAVE TO PERFORM FOLLOWIING TASK AND RUN FOLLOWING LINUX COMMANDS :-</a:t>
            </a:r>
          </a:p>
        </p:txBody>
      </p:sp>
      <p:pic>
        <p:nvPicPr>
          <p:cNvPr id="5" name="Content Placeholder 4">
            <a:extLst>
              <a:ext uri="{FF2B5EF4-FFF2-40B4-BE49-F238E27FC236}">
                <a16:creationId xmlns:a16="http://schemas.microsoft.com/office/drawing/2014/main" id="{8779CE9D-EB67-BDA6-2703-FC2ABCEDE3EC}"/>
              </a:ext>
            </a:extLst>
          </p:cNvPr>
          <p:cNvPicPr>
            <a:picLocks noGrp="1" noChangeAspect="1"/>
          </p:cNvPicPr>
          <p:nvPr>
            <p:ph idx="1"/>
          </p:nvPr>
        </p:nvPicPr>
        <p:blipFill>
          <a:blip r:embed="rId2"/>
          <a:stretch>
            <a:fillRect/>
          </a:stretch>
        </p:blipFill>
        <p:spPr>
          <a:xfrm>
            <a:off x="2507368" y="2141538"/>
            <a:ext cx="6488288" cy="3649662"/>
          </a:xfrm>
        </p:spPr>
      </p:pic>
    </p:spTree>
    <p:extLst>
      <p:ext uri="{BB962C8B-B14F-4D97-AF65-F5344CB8AC3E}">
        <p14:creationId xmlns:p14="http://schemas.microsoft.com/office/powerpoint/2010/main" val="842929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2F709-0636-6E09-AD7E-48ED0BA2903B}"/>
              </a:ext>
            </a:extLst>
          </p:cNvPr>
          <p:cNvSpPr>
            <a:spLocks noGrp="1"/>
          </p:cNvSpPr>
          <p:nvPr>
            <p:ph type="title"/>
          </p:nvPr>
        </p:nvSpPr>
        <p:spPr/>
        <p:txBody>
          <a:bodyPr>
            <a:normAutofit fontScale="90000"/>
          </a:bodyPr>
          <a:lstStyle/>
          <a:p>
            <a:r>
              <a:rPr lang="en-US" dirty="0"/>
              <a:t>Another command to get update , </a:t>
            </a:r>
            <a:r>
              <a:rPr lang="en-US" dirty="0" err="1"/>
              <a:t>sudo</a:t>
            </a:r>
            <a:r>
              <a:rPr lang="en-US" dirty="0"/>
              <a:t> apt update  , for upgrade :- </a:t>
            </a:r>
            <a:r>
              <a:rPr lang="en-US" dirty="0" err="1"/>
              <a:t>sudo</a:t>
            </a:r>
            <a:r>
              <a:rPr lang="en-US" dirty="0"/>
              <a:t> apt upgrade </a:t>
            </a:r>
            <a:br>
              <a:rPr lang="en-US" dirty="0"/>
            </a:br>
            <a:endParaRPr lang="en-US" dirty="0"/>
          </a:p>
        </p:txBody>
      </p:sp>
      <p:pic>
        <p:nvPicPr>
          <p:cNvPr id="7" name="Content Placeholder 6">
            <a:extLst>
              <a:ext uri="{FF2B5EF4-FFF2-40B4-BE49-F238E27FC236}">
                <a16:creationId xmlns:a16="http://schemas.microsoft.com/office/drawing/2014/main" id="{272066E8-62AD-C73E-DCE7-10BBA04190B2}"/>
              </a:ext>
            </a:extLst>
          </p:cNvPr>
          <p:cNvPicPr>
            <a:picLocks noGrp="1" noChangeAspect="1"/>
          </p:cNvPicPr>
          <p:nvPr>
            <p:ph idx="1"/>
          </p:nvPr>
        </p:nvPicPr>
        <p:blipFill>
          <a:blip r:embed="rId2"/>
          <a:stretch>
            <a:fillRect/>
          </a:stretch>
        </p:blipFill>
        <p:spPr>
          <a:xfrm>
            <a:off x="2553099" y="2141538"/>
            <a:ext cx="6396826" cy="3649662"/>
          </a:xfrm>
        </p:spPr>
      </p:pic>
    </p:spTree>
    <p:extLst>
      <p:ext uri="{BB962C8B-B14F-4D97-AF65-F5344CB8AC3E}">
        <p14:creationId xmlns:p14="http://schemas.microsoft.com/office/powerpoint/2010/main" val="2659901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DD649-7454-9F6F-9428-872F24C665D9}"/>
              </a:ext>
            </a:extLst>
          </p:cNvPr>
          <p:cNvSpPr>
            <a:spLocks noGrp="1"/>
          </p:cNvSpPr>
          <p:nvPr>
            <p:ph type="title"/>
          </p:nvPr>
        </p:nvSpPr>
        <p:spPr/>
        <p:txBody>
          <a:bodyPr/>
          <a:lstStyle/>
          <a:p>
            <a:r>
              <a:rPr lang="en-US" dirty="0"/>
              <a:t>And all the commands are here to run all commands :- </a:t>
            </a:r>
          </a:p>
        </p:txBody>
      </p:sp>
      <p:sp>
        <p:nvSpPr>
          <p:cNvPr id="3" name="Content Placeholder 2">
            <a:extLst>
              <a:ext uri="{FF2B5EF4-FFF2-40B4-BE49-F238E27FC236}">
                <a16:creationId xmlns:a16="http://schemas.microsoft.com/office/drawing/2014/main" id="{F04E46A2-F132-2CC4-BFF1-B237241272FB}"/>
              </a:ext>
            </a:extLst>
          </p:cNvPr>
          <p:cNvSpPr>
            <a:spLocks noGrp="1"/>
          </p:cNvSpPr>
          <p:nvPr>
            <p:ph idx="1"/>
          </p:nvPr>
        </p:nvSpPr>
        <p:spPr/>
        <p:txBody>
          <a:bodyPr/>
          <a:lstStyle/>
          <a:p>
            <a:r>
              <a:rPr lang="en-US" dirty="0" err="1"/>
              <a:t>sudo</a:t>
            </a:r>
            <a:r>
              <a:rPr lang="en-US" dirty="0"/>
              <a:t> apt-get install -y apt-transport-https software-properties-common </a:t>
            </a:r>
            <a:r>
              <a:rPr lang="en-US" dirty="0" err="1"/>
              <a:t>wget</a:t>
            </a:r>
            <a:endParaRPr lang="en-US" dirty="0"/>
          </a:p>
          <a:p>
            <a:r>
              <a:rPr lang="en-US" dirty="0" err="1"/>
              <a:t>sudo</a:t>
            </a:r>
            <a:r>
              <a:rPr lang="en-US" dirty="0"/>
              <a:t> </a:t>
            </a:r>
            <a:r>
              <a:rPr lang="en-US" dirty="0" err="1"/>
              <a:t>mkdir</a:t>
            </a:r>
            <a:r>
              <a:rPr lang="en-US" dirty="0"/>
              <a:t> -p /</a:t>
            </a:r>
            <a:r>
              <a:rPr lang="en-US" dirty="0" err="1"/>
              <a:t>etc</a:t>
            </a:r>
            <a:r>
              <a:rPr lang="en-US" dirty="0"/>
              <a:t>/apt/keyrings/</a:t>
            </a:r>
            <a:r>
              <a:rPr lang="en-US" dirty="0" err="1"/>
              <a:t>wget</a:t>
            </a:r>
            <a:r>
              <a:rPr lang="en-US" dirty="0"/>
              <a:t> -q -O - https://apt.grafana.com/gpg.key | </a:t>
            </a:r>
            <a:r>
              <a:rPr lang="en-US" dirty="0" err="1"/>
              <a:t>gpg</a:t>
            </a:r>
            <a:r>
              <a:rPr lang="en-US" dirty="0"/>
              <a:t> --</a:t>
            </a:r>
            <a:r>
              <a:rPr lang="en-US" dirty="0" err="1"/>
              <a:t>dearmor</a:t>
            </a:r>
            <a:r>
              <a:rPr lang="en-US" dirty="0"/>
              <a:t> | </a:t>
            </a:r>
            <a:r>
              <a:rPr lang="en-US" dirty="0" err="1"/>
              <a:t>sudo</a:t>
            </a:r>
            <a:r>
              <a:rPr lang="en-US" dirty="0"/>
              <a:t> tee /</a:t>
            </a:r>
            <a:r>
              <a:rPr lang="en-US" dirty="0" err="1"/>
              <a:t>etc</a:t>
            </a:r>
            <a:r>
              <a:rPr lang="en-US" dirty="0"/>
              <a:t>/apt/keyrings/</a:t>
            </a:r>
            <a:r>
              <a:rPr lang="en-US" dirty="0" err="1"/>
              <a:t>grafana.gpg</a:t>
            </a:r>
            <a:r>
              <a:rPr lang="en-US" dirty="0"/>
              <a:t> &gt;  /dev/null</a:t>
            </a:r>
          </a:p>
          <a:p>
            <a:r>
              <a:rPr lang="en-US" dirty="0"/>
              <a:t>echo "deb [signed-by=/</a:t>
            </a:r>
            <a:r>
              <a:rPr lang="en-US" dirty="0" err="1"/>
              <a:t>etc</a:t>
            </a:r>
            <a:r>
              <a:rPr lang="en-US" dirty="0"/>
              <a:t>/apt/keyrings/</a:t>
            </a:r>
            <a:r>
              <a:rPr lang="en-US" dirty="0" err="1"/>
              <a:t>grafana.gpg</a:t>
            </a:r>
            <a:r>
              <a:rPr lang="en-US" dirty="0"/>
              <a:t>] https://apt.grafana.com stable main" | </a:t>
            </a:r>
            <a:r>
              <a:rPr lang="en-US" dirty="0" err="1"/>
              <a:t>sudo</a:t>
            </a:r>
            <a:r>
              <a:rPr lang="en-US" dirty="0"/>
              <a:t> tee -a /</a:t>
            </a:r>
            <a:r>
              <a:rPr lang="en-US" dirty="0" err="1"/>
              <a:t>etc</a:t>
            </a:r>
            <a:r>
              <a:rPr lang="en-US" dirty="0"/>
              <a:t>/apt/</a:t>
            </a:r>
            <a:r>
              <a:rPr lang="en-US" dirty="0" err="1"/>
              <a:t>sources.list.d</a:t>
            </a:r>
            <a:r>
              <a:rPr lang="en-US" dirty="0"/>
              <a:t>/</a:t>
            </a:r>
            <a:r>
              <a:rPr lang="en-US" dirty="0" err="1"/>
              <a:t>grafana.list</a:t>
            </a:r>
            <a:endParaRPr lang="en-US" dirty="0"/>
          </a:p>
          <a:p>
            <a:r>
              <a:rPr lang="en-US" dirty="0"/>
              <a:t># To updates the list of available packages </a:t>
            </a:r>
            <a:r>
              <a:rPr lang="en-US" dirty="0" err="1"/>
              <a:t>sudo</a:t>
            </a:r>
            <a:r>
              <a:rPr lang="en-US" dirty="0"/>
              <a:t> apt-get update</a:t>
            </a:r>
          </a:p>
          <a:p>
            <a:r>
              <a:rPr lang="en-US" dirty="0" err="1"/>
              <a:t>sudo</a:t>
            </a:r>
            <a:r>
              <a:rPr lang="en-US" dirty="0"/>
              <a:t> apt-get install </a:t>
            </a:r>
            <a:r>
              <a:rPr lang="en-US" dirty="0" err="1"/>
              <a:t>grafana</a:t>
            </a:r>
            <a:r>
              <a:rPr lang="en-US" dirty="0"/>
              <a:t>-enterprise</a:t>
            </a:r>
          </a:p>
          <a:p>
            <a:r>
              <a:rPr lang="en-US" dirty="0" err="1"/>
              <a:t>sudo</a:t>
            </a:r>
            <a:r>
              <a:rPr lang="en-US" dirty="0"/>
              <a:t> </a:t>
            </a:r>
            <a:r>
              <a:rPr lang="en-US" dirty="0" err="1"/>
              <a:t>systemctl</a:t>
            </a:r>
            <a:r>
              <a:rPr lang="en-US" dirty="0"/>
              <a:t> start </a:t>
            </a:r>
            <a:r>
              <a:rPr lang="en-US" dirty="0" err="1"/>
              <a:t>grafana</a:t>
            </a:r>
            <a:r>
              <a:rPr lang="en-US" dirty="0"/>
              <a:t>-server</a:t>
            </a:r>
          </a:p>
        </p:txBody>
      </p:sp>
    </p:spTree>
    <p:extLst>
      <p:ext uri="{BB962C8B-B14F-4D97-AF65-F5344CB8AC3E}">
        <p14:creationId xmlns:p14="http://schemas.microsoft.com/office/powerpoint/2010/main" val="3742279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4F71AE4-BE44-AED1-97E0-6173798C5D71}"/>
              </a:ext>
            </a:extLst>
          </p:cNvPr>
          <p:cNvPicPr>
            <a:picLocks noGrp="1" noChangeAspect="1"/>
          </p:cNvPicPr>
          <p:nvPr>
            <p:ph idx="1"/>
          </p:nvPr>
        </p:nvPicPr>
        <p:blipFill>
          <a:blip r:embed="rId2"/>
          <a:stretch>
            <a:fillRect/>
          </a:stretch>
        </p:blipFill>
        <p:spPr>
          <a:xfrm>
            <a:off x="1946490" y="2141538"/>
            <a:ext cx="7610045" cy="3649662"/>
          </a:xfrm>
        </p:spPr>
      </p:pic>
    </p:spTree>
    <p:extLst>
      <p:ext uri="{BB962C8B-B14F-4D97-AF65-F5344CB8AC3E}">
        <p14:creationId xmlns:p14="http://schemas.microsoft.com/office/powerpoint/2010/main" val="2552658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2C9D8-D107-2B39-4AE2-493926AAD081}"/>
              </a:ext>
            </a:extLst>
          </p:cNvPr>
          <p:cNvSpPr>
            <a:spLocks noGrp="1"/>
          </p:cNvSpPr>
          <p:nvPr>
            <p:ph type="title"/>
          </p:nvPr>
        </p:nvSpPr>
        <p:spPr/>
        <p:txBody>
          <a:bodyPr>
            <a:normAutofit fontScale="90000"/>
          </a:bodyPr>
          <a:lstStyle/>
          <a:p>
            <a:r>
              <a:rPr lang="en-US" dirty="0"/>
              <a:t> go to </a:t>
            </a:r>
            <a:r>
              <a:rPr lang="en-US" dirty="0" err="1"/>
              <a:t>Iam</a:t>
            </a:r>
            <a:r>
              <a:rPr lang="en-US" dirty="0"/>
              <a:t>  roles and policies where you will type this code in </a:t>
            </a:r>
            <a:r>
              <a:rPr lang="en-US" dirty="0" err="1"/>
              <a:t>json</a:t>
            </a:r>
            <a:r>
              <a:rPr lang="en-US" dirty="0"/>
              <a:t>  :-</a:t>
            </a:r>
            <a:br>
              <a:rPr lang="en-US" dirty="0"/>
            </a:br>
            <a:endParaRPr lang="en-US" dirty="0"/>
          </a:p>
        </p:txBody>
      </p:sp>
      <p:pic>
        <p:nvPicPr>
          <p:cNvPr id="5" name="Content Placeholder 4">
            <a:extLst>
              <a:ext uri="{FF2B5EF4-FFF2-40B4-BE49-F238E27FC236}">
                <a16:creationId xmlns:a16="http://schemas.microsoft.com/office/drawing/2014/main" id="{84869905-B374-51F0-93C1-70DDD074BA2F}"/>
              </a:ext>
            </a:extLst>
          </p:cNvPr>
          <p:cNvPicPr>
            <a:picLocks noGrp="1" noChangeAspect="1"/>
          </p:cNvPicPr>
          <p:nvPr>
            <p:ph idx="1"/>
          </p:nvPr>
        </p:nvPicPr>
        <p:blipFill>
          <a:blip r:embed="rId2"/>
          <a:stretch>
            <a:fillRect/>
          </a:stretch>
        </p:blipFill>
        <p:spPr>
          <a:xfrm>
            <a:off x="4646405" y="2141538"/>
            <a:ext cx="2210214" cy="3649662"/>
          </a:xfrm>
        </p:spPr>
      </p:pic>
    </p:spTree>
    <p:extLst>
      <p:ext uri="{BB962C8B-B14F-4D97-AF65-F5344CB8AC3E}">
        <p14:creationId xmlns:p14="http://schemas.microsoft.com/office/powerpoint/2010/main" val="1212268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B83D6-EC80-DAE0-6A17-778D81D334D6}"/>
              </a:ext>
            </a:extLst>
          </p:cNvPr>
          <p:cNvSpPr>
            <a:spLocks noGrp="1"/>
          </p:cNvSpPr>
          <p:nvPr>
            <p:ph type="title"/>
          </p:nvPr>
        </p:nvSpPr>
        <p:spPr/>
        <p:txBody>
          <a:bodyPr/>
          <a:lstStyle/>
          <a:p>
            <a:r>
              <a:rPr lang="en-US" dirty="0"/>
              <a:t>Now you have to access Grafana so </a:t>
            </a:r>
          </a:p>
        </p:txBody>
      </p:sp>
      <p:sp>
        <p:nvSpPr>
          <p:cNvPr id="3" name="Content Placeholder 2">
            <a:extLst>
              <a:ext uri="{FF2B5EF4-FFF2-40B4-BE49-F238E27FC236}">
                <a16:creationId xmlns:a16="http://schemas.microsoft.com/office/drawing/2014/main" id="{864F1B96-7847-F0E3-2F4A-325EE3C42CE5}"/>
              </a:ext>
            </a:extLst>
          </p:cNvPr>
          <p:cNvSpPr>
            <a:spLocks noGrp="1"/>
          </p:cNvSpPr>
          <p:nvPr>
            <p:ph idx="1"/>
          </p:nvPr>
        </p:nvSpPr>
        <p:spPr/>
        <p:txBody>
          <a:bodyPr/>
          <a:lstStyle/>
          <a:p>
            <a:r>
              <a:rPr lang="en-US" dirty="0"/>
              <a:t>Install Grafana on ec2 and then  start Grafana  </a:t>
            </a:r>
          </a:p>
          <a:p>
            <a:r>
              <a:rPr lang="en-US" dirty="0"/>
              <a:t>Sudo apt-install Grafana </a:t>
            </a:r>
          </a:p>
          <a:p>
            <a:r>
              <a:rPr lang="en-US" dirty="0"/>
              <a:t>And </a:t>
            </a:r>
            <a:r>
              <a:rPr lang="en-US" dirty="0" err="1"/>
              <a:t>sudo</a:t>
            </a:r>
            <a:r>
              <a:rPr lang="en-US" dirty="0"/>
              <a:t> start Grafana –v </a:t>
            </a:r>
          </a:p>
          <a:p>
            <a:endParaRPr lang="en-US" dirty="0"/>
          </a:p>
        </p:txBody>
      </p:sp>
    </p:spTree>
    <p:extLst>
      <p:ext uri="{BB962C8B-B14F-4D97-AF65-F5344CB8AC3E}">
        <p14:creationId xmlns:p14="http://schemas.microsoft.com/office/powerpoint/2010/main" val="40089060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9D43-FD57-7849-D84B-95192303CAAB}"/>
              </a:ext>
            </a:extLst>
          </p:cNvPr>
          <p:cNvSpPr>
            <a:spLocks noGrp="1"/>
          </p:cNvSpPr>
          <p:nvPr>
            <p:ph type="title"/>
          </p:nvPr>
        </p:nvSpPr>
        <p:spPr/>
        <p:txBody>
          <a:bodyPr/>
          <a:lstStyle/>
          <a:p>
            <a:r>
              <a:rPr lang="en-US" dirty="0"/>
              <a:t>Go the </a:t>
            </a:r>
            <a:r>
              <a:rPr lang="en-US" dirty="0" err="1"/>
              <a:t>iam</a:t>
            </a:r>
            <a:r>
              <a:rPr lang="en-US" dirty="0"/>
              <a:t> role and then modify that role and then </a:t>
            </a:r>
          </a:p>
        </p:txBody>
      </p:sp>
      <p:pic>
        <p:nvPicPr>
          <p:cNvPr id="9" name="Content Placeholder 8">
            <a:extLst>
              <a:ext uri="{FF2B5EF4-FFF2-40B4-BE49-F238E27FC236}">
                <a16:creationId xmlns:a16="http://schemas.microsoft.com/office/drawing/2014/main" id="{471066E1-0440-78BD-C711-A97C1199BC7C}"/>
              </a:ext>
            </a:extLst>
          </p:cNvPr>
          <p:cNvPicPr>
            <a:picLocks noGrp="1" noChangeAspect="1"/>
          </p:cNvPicPr>
          <p:nvPr>
            <p:ph idx="1"/>
          </p:nvPr>
        </p:nvPicPr>
        <p:blipFill>
          <a:blip r:embed="rId2"/>
          <a:stretch>
            <a:fillRect/>
          </a:stretch>
        </p:blipFill>
        <p:spPr>
          <a:xfrm>
            <a:off x="2507368" y="2141538"/>
            <a:ext cx="6488288" cy="3649662"/>
          </a:xfrm>
        </p:spPr>
      </p:pic>
    </p:spTree>
    <p:extLst>
      <p:ext uri="{BB962C8B-B14F-4D97-AF65-F5344CB8AC3E}">
        <p14:creationId xmlns:p14="http://schemas.microsoft.com/office/powerpoint/2010/main" val="127390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E245D-3A1C-496F-1820-E84983D03067}"/>
              </a:ext>
            </a:extLst>
          </p:cNvPr>
          <p:cNvSpPr>
            <a:spLocks noGrp="1"/>
          </p:cNvSpPr>
          <p:nvPr>
            <p:ph type="title"/>
          </p:nvPr>
        </p:nvSpPr>
        <p:spPr/>
        <p:txBody>
          <a:bodyPr/>
          <a:lstStyle/>
          <a:p>
            <a:r>
              <a:rPr lang="en-US" dirty="0"/>
              <a:t>How to start Grafana :-</a:t>
            </a:r>
          </a:p>
        </p:txBody>
      </p:sp>
      <p:pic>
        <p:nvPicPr>
          <p:cNvPr id="5" name="Content Placeholder 4">
            <a:extLst>
              <a:ext uri="{FF2B5EF4-FFF2-40B4-BE49-F238E27FC236}">
                <a16:creationId xmlns:a16="http://schemas.microsoft.com/office/drawing/2014/main" id="{A71D9243-27DF-445E-7129-D77B4A3530BE}"/>
              </a:ext>
            </a:extLst>
          </p:cNvPr>
          <p:cNvPicPr>
            <a:picLocks noGrp="1" noChangeAspect="1"/>
          </p:cNvPicPr>
          <p:nvPr>
            <p:ph idx="1"/>
          </p:nvPr>
        </p:nvPicPr>
        <p:blipFill>
          <a:blip r:embed="rId2"/>
          <a:stretch>
            <a:fillRect/>
          </a:stretch>
        </p:blipFill>
        <p:spPr>
          <a:xfrm>
            <a:off x="1886583" y="2275762"/>
            <a:ext cx="6488288" cy="3649662"/>
          </a:xfrm>
        </p:spPr>
      </p:pic>
    </p:spTree>
    <p:extLst>
      <p:ext uri="{BB962C8B-B14F-4D97-AF65-F5344CB8AC3E}">
        <p14:creationId xmlns:p14="http://schemas.microsoft.com/office/powerpoint/2010/main" val="1836266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2E17E-C23E-0EE7-A09E-7AD847AB936A}"/>
              </a:ext>
            </a:extLst>
          </p:cNvPr>
          <p:cNvSpPr>
            <a:spLocks noGrp="1"/>
          </p:cNvSpPr>
          <p:nvPr>
            <p:ph type="title"/>
          </p:nvPr>
        </p:nvSpPr>
        <p:spPr/>
        <p:txBody>
          <a:bodyPr/>
          <a:lstStyle/>
          <a:p>
            <a:r>
              <a:rPr lang="en-US" dirty="0"/>
              <a:t>How to login it to Grafana :-</a:t>
            </a:r>
          </a:p>
        </p:txBody>
      </p:sp>
      <p:sp>
        <p:nvSpPr>
          <p:cNvPr id="3" name="Content Placeholder 2">
            <a:extLst>
              <a:ext uri="{FF2B5EF4-FFF2-40B4-BE49-F238E27FC236}">
                <a16:creationId xmlns:a16="http://schemas.microsoft.com/office/drawing/2014/main" id="{2AF18A2B-9CE9-436F-E7CF-7F4A2D4EAEDF}"/>
              </a:ext>
            </a:extLst>
          </p:cNvPr>
          <p:cNvSpPr>
            <a:spLocks noGrp="1"/>
          </p:cNvSpPr>
          <p:nvPr>
            <p:ph idx="1"/>
          </p:nvPr>
        </p:nvSpPr>
        <p:spPr/>
        <p:txBody>
          <a:bodyPr/>
          <a:lstStyle/>
          <a:p>
            <a:r>
              <a:rPr lang="en-US" dirty="0"/>
              <a:t>In this you can see that by log in it will be appear like this , then go to the it login it that </a:t>
            </a:r>
            <a:r>
              <a:rPr lang="en-US" dirty="0" err="1"/>
              <a:t>gmail</a:t>
            </a:r>
            <a:r>
              <a:rPr lang="en-US" dirty="0"/>
              <a:t> and password and then Grafana will be started and then you have to go the collection and then go the data sources and then add </a:t>
            </a:r>
            <a:r>
              <a:rPr lang="en-US" dirty="0" err="1"/>
              <a:t>cloudwatch</a:t>
            </a:r>
            <a:r>
              <a:rPr lang="en-US" dirty="0"/>
              <a:t> </a:t>
            </a:r>
          </a:p>
        </p:txBody>
      </p:sp>
    </p:spTree>
    <p:extLst>
      <p:ext uri="{BB962C8B-B14F-4D97-AF65-F5344CB8AC3E}">
        <p14:creationId xmlns:p14="http://schemas.microsoft.com/office/powerpoint/2010/main" val="935857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670BC-792E-379C-4BA8-64CD572CB78C}"/>
              </a:ext>
            </a:extLst>
          </p:cNvPr>
          <p:cNvSpPr>
            <a:spLocks noGrp="1"/>
          </p:cNvSpPr>
          <p:nvPr>
            <p:ph type="title"/>
          </p:nvPr>
        </p:nvSpPr>
        <p:spPr>
          <a:xfrm>
            <a:off x="685801" y="370514"/>
            <a:ext cx="10131425" cy="2716636"/>
          </a:xfrm>
        </p:spPr>
        <p:txBody>
          <a:bodyPr>
            <a:normAutofit fontScale="90000"/>
          </a:bodyPr>
          <a:lstStyle/>
          <a:p>
            <a:r>
              <a:rPr lang="en-US" dirty="0"/>
              <a:t>To start Grafana you have to login by username and password of the user it will be login  and then go to the collection then go to the data sources and  add </a:t>
            </a:r>
            <a:r>
              <a:rPr lang="en-US" dirty="0" err="1"/>
              <a:t>cloudwatch</a:t>
            </a:r>
            <a:r>
              <a:rPr lang="en-US" dirty="0"/>
              <a:t> and then go to the dashboard to see the graph . You can see that the graph is being created .</a:t>
            </a:r>
          </a:p>
        </p:txBody>
      </p:sp>
      <p:pic>
        <p:nvPicPr>
          <p:cNvPr id="5" name="Content Placeholder 4">
            <a:extLst>
              <a:ext uri="{FF2B5EF4-FFF2-40B4-BE49-F238E27FC236}">
                <a16:creationId xmlns:a16="http://schemas.microsoft.com/office/drawing/2014/main" id="{D69751AF-41B1-A05B-9E4A-121E63A4779C}"/>
              </a:ext>
            </a:extLst>
          </p:cNvPr>
          <p:cNvPicPr>
            <a:picLocks noGrp="1" noChangeAspect="1"/>
          </p:cNvPicPr>
          <p:nvPr>
            <p:ph idx="1"/>
          </p:nvPr>
        </p:nvPicPr>
        <p:blipFill>
          <a:blip r:embed="rId2"/>
          <a:stretch>
            <a:fillRect/>
          </a:stretch>
        </p:blipFill>
        <p:spPr>
          <a:xfrm>
            <a:off x="2507369" y="3322041"/>
            <a:ext cx="6488288" cy="3165446"/>
          </a:xfrm>
        </p:spPr>
      </p:pic>
    </p:spTree>
    <p:extLst>
      <p:ext uri="{BB962C8B-B14F-4D97-AF65-F5344CB8AC3E}">
        <p14:creationId xmlns:p14="http://schemas.microsoft.com/office/powerpoint/2010/main" val="5981903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{92B46EEE-B0AF-4673-868C-3C96601707E7}TFb5ae2469-0bae-4978-b0e0-39dd046150ffc1c1b4f4-8604d1515019</Template>
  <TotalTime>66</TotalTime>
  <Words>894</Words>
  <Application>Microsoft Office PowerPoint</Application>
  <PresentationFormat>Widescreen</PresentationFormat>
  <Paragraphs>95</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Calibri Light</vt:lpstr>
      <vt:lpstr>Arial</vt:lpstr>
      <vt:lpstr>Calibri</vt:lpstr>
      <vt:lpstr>Celestial</vt:lpstr>
      <vt:lpstr>Poject3:- INTEGRATE GRAFANA WITH AMAZON GRAFANA </vt:lpstr>
      <vt:lpstr>KEY FEATUREs OF GRAFANA </vt:lpstr>
      <vt:lpstr>PowerPoint Presentation</vt:lpstr>
      <vt:lpstr>PowerPoint Presentation</vt:lpstr>
      <vt:lpstr>PowerPoint Presentation</vt:lpstr>
      <vt:lpstr>ARCHITECTURE OVERVIEW :-  </vt:lpstr>
      <vt:lpstr>COMPONENT WITH ITS DESCRIPTION:- </vt:lpstr>
      <vt:lpstr>HOW TO IMPLEMENT GRAFANA ON THE AWS MANAGEMENT CONSOLE </vt:lpstr>
      <vt:lpstr>CREATING AND EC2 INSTANCE AND CONNECT IT EC2 INSTANCE :- </vt:lpstr>
      <vt:lpstr>HOW TO CONNECT EC2 INSTANCE :-</vt:lpstr>
      <vt:lpstr>PowerPoint Presentation</vt:lpstr>
      <vt:lpstr>THEN AFTER CONNECT YOU HAVE TO PERFORM FOLLOWIING TASK AND RUN FOLLOWING LINUX COMMANDS :-</vt:lpstr>
      <vt:lpstr>Another command to get update , sudo apt update  , for upgrade :- sudo apt upgrade  </vt:lpstr>
      <vt:lpstr>And all the commands are here to run all commands :- </vt:lpstr>
      <vt:lpstr>PowerPoint Presentation</vt:lpstr>
      <vt:lpstr> go to Iam  roles and policies where you will type this code in json  :- </vt:lpstr>
      <vt:lpstr>Now you have to access Grafana so </vt:lpstr>
      <vt:lpstr>Go the iam role and then modify that role and then </vt:lpstr>
      <vt:lpstr>How to start Grafana :-</vt:lpstr>
      <vt:lpstr>How to login it to Grafana :-</vt:lpstr>
      <vt:lpstr>To start Grafana you have to login by username and password of the user it will be login  and then go to the collection then go to the data sources and  add cloudwatch and then go to the dashboard to see the graph . You can see that the graph is being created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ananya tiwari</dc:creator>
  <cp:lastModifiedBy>ananya tiwari</cp:lastModifiedBy>
  <cp:revision>3</cp:revision>
  <dcterms:created xsi:type="dcterms:W3CDTF">2025-06-27T01:32:35Z</dcterms:created>
  <dcterms:modified xsi:type="dcterms:W3CDTF">2025-06-27T04:44:13Z</dcterms:modified>
</cp:coreProperties>
</file>